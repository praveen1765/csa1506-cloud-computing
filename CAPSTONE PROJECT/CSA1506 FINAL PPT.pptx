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0">
              <a:buSzTx/>
              <a:buFontTx/>
              <a:buNone/>
              <a:defRPr sz="2400" b="1"/>
            </a:lvl2pPr>
            <a:lvl3pPr marL="0" indent="0">
              <a:buSzTx/>
              <a:buFontTx/>
              <a:buNone/>
              <a:defRPr sz="2400" b="1"/>
            </a:lvl3pPr>
            <a:lvl4pPr marL="0" indent="0">
              <a:buSzTx/>
              <a:buFontTx/>
              <a:buNone/>
              <a:defRPr sz="2400" b="1"/>
            </a:lvl4pPr>
            <a:lvl5pPr marL="0" indent="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6" y="2057400"/>
            <a:ext cx="3932242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9" y="6404294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757575"/>
                </a:solidFill>
                <a:latin typeface="+mn-lt"/>
                <a:ea typeface="+mn-ea"/>
                <a:cs typeface="+mn-cs"/>
                <a:sym typeface="Apto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7737145" y="4257559"/>
            <a:ext cx="4454855" cy="166146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defTabSz="365758">
              <a:spcBef>
                <a:spcPts val="400"/>
              </a:spcBef>
              <a:defRPr sz="2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defTabSz="365758">
              <a:spcBef>
                <a:spcPts val="4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182879">
              <a:lnSpc>
                <a:spcPct val="10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C.KARTHIK (192573008)</a:t>
            </a:r>
          </a:p>
          <a:p>
            <a:pPr defTabSz="182879">
              <a:lnSpc>
                <a:spcPct val="10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182879">
              <a:lnSpc>
                <a:spcPct val="10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E.KHADRI NATH GOWD (192472296)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182879">
              <a:lnSpc>
                <a:spcPct val="10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182879">
              <a:lnSpc>
                <a:spcPct val="10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PRAVEEN KUMAR (192511135)</a:t>
            </a:r>
          </a:p>
        </p:txBody>
      </p:sp>
      <p:sp>
        <p:nvSpPr>
          <p:cNvPr id="95" name="TextBox 3"/>
          <p:cNvSpPr txBox="1"/>
          <p:nvPr/>
        </p:nvSpPr>
        <p:spPr>
          <a:xfrm>
            <a:off x="1138586" y="4347055"/>
            <a:ext cx="2935229" cy="1107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Guided by :</a:t>
            </a:r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</a:t>
            </a:r>
            <a:r>
              <a:rPr lang="en-US" dirty="0"/>
              <a:t>r. </a:t>
            </a:r>
            <a:r>
              <a:rPr dirty="0" err="1"/>
              <a:t>Boomija</a:t>
            </a:r>
            <a:r>
              <a:rPr dirty="0"/>
              <a:t> M D</a:t>
            </a:r>
          </a:p>
        </p:txBody>
      </p:sp>
      <p:sp>
        <p:nvSpPr>
          <p:cNvPr id="96" name="CampusGPT – University Information and Student Support Chatbot"/>
          <p:cNvSpPr txBox="1"/>
          <p:nvPr/>
        </p:nvSpPr>
        <p:spPr>
          <a:xfrm>
            <a:off x="400310" y="3335015"/>
            <a:ext cx="11391380" cy="664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CSA1506 - CLOUD COMPUTING AND BIG DATA ANALYTICS</a:t>
            </a:r>
          </a:p>
        </p:txBody>
      </p:sp>
      <p:sp>
        <p:nvSpPr>
          <p:cNvPr id="97" name="Green Cloud-Oriented AI Framework for Sustainable Datacenter Resource Scheduling and Cooling Optimization"/>
          <p:cNvSpPr txBox="1"/>
          <p:nvPr/>
        </p:nvSpPr>
        <p:spPr>
          <a:xfrm>
            <a:off x="1598354" y="2044757"/>
            <a:ext cx="9524398" cy="89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 defTabSz="457200">
              <a:defRPr sz="2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Green Cloud-Oriented AI Framework for Sustainable Datacenter </a:t>
            </a:r>
            <a:endParaRPr lang="en-US" dirty="0"/>
          </a:p>
          <a:p>
            <a:r>
              <a:rPr dirty="0"/>
              <a:t>Resource Scheduling and Cooling Optimization</a:t>
            </a:r>
          </a:p>
        </p:txBody>
      </p:sp>
      <p:pic>
        <p:nvPicPr>
          <p:cNvPr id="9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>
            <a:spLocks noGrp="1"/>
          </p:cNvSpPr>
          <p:nvPr>
            <p:ph type="title"/>
          </p:nvPr>
        </p:nvSpPr>
        <p:spPr>
          <a:xfrm>
            <a:off x="2572623" y="434201"/>
            <a:ext cx="6825676" cy="1325564"/>
          </a:xfrm>
          <a:prstGeom prst="rect">
            <a:avLst/>
          </a:prstGeom>
        </p:spPr>
        <p:txBody>
          <a:bodyPr/>
          <a:lstStyle>
            <a:lvl1pPr algn="ctr">
              <a:defRPr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Introduction</a:t>
            </a:r>
          </a:p>
        </p:txBody>
      </p:sp>
      <p:sp>
        <p:nvSpPr>
          <p:cNvPr id="10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727661" y="1906214"/>
            <a:ext cx="10515601" cy="4351340"/>
          </a:xfrm>
          <a:prstGeom prst="rect">
            <a:avLst/>
          </a:prstGeom>
        </p:spPr>
        <p:txBody>
          <a:bodyPr/>
          <a:lstStyle/>
          <a:p>
            <a:pPr marL="0" indent="0" defTabSz="429768">
              <a:lnSpc>
                <a:spcPct val="100000"/>
              </a:lnSpc>
              <a:spcBef>
                <a:spcPts val="1400"/>
              </a:spcBef>
              <a:buSzTx/>
              <a:buNone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• Cloud computing is widely used, but datacenters consume a large amount of energy and require efficient resource management.</a:t>
            </a:r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• AI-based resource scheduling helps improve server utilization and reduces unnecessary power consumption.</a:t>
            </a:r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• </a:t>
            </a:r>
            <a:r>
              <a:rPr b="0" dirty="0"/>
              <a:t>Intelligent cooling systems minimize energy usage by adjusting cooling based on server workload and temperature.</a:t>
            </a:r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• This project develops a Green Cloud AI framework to achieve sustainable, energy-efficient, and high-performance datacenter operations.</a:t>
            </a:r>
          </a:p>
        </p:txBody>
      </p:sp>
      <p:pic>
        <p:nvPicPr>
          <p:cNvPr id="10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>
            <a:spLocks noGrp="1"/>
          </p:cNvSpPr>
          <p:nvPr>
            <p:ph type="title"/>
          </p:nvPr>
        </p:nvSpPr>
        <p:spPr>
          <a:xfrm>
            <a:off x="1898005" y="675969"/>
            <a:ext cx="8562114" cy="1325564"/>
          </a:xfrm>
          <a:prstGeom prst="rect">
            <a:avLst/>
          </a:prstGeom>
        </p:spPr>
        <p:txBody>
          <a:bodyPr/>
          <a:lstStyle>
            <a:lvl1pPr algn="ctr">
              <a:defRPr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10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312222" y="2586760"/>
            <a:ext cx="11733681" cy="2985724"/>
          </a:xfrm>
          <a:prstGeom prst="rect">
            <a:avLst/>
          </a:prstGeom>
        </p:spPr>
        <p:txBody>
          <a:bodyPr/>
          <a:lstStyle/>
          <a:p>
            <a:pPr marL="0" indent="0" defTabSz="425194">
              <a:lnSpc>
                <a:spcPct val="200000"/>
              </a:lnSpc>
              <a:spcBef>
                <a:spcPts val="0"/>
              </a:spcBef>
              <a:buSzTx/>
              <a:buNone/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</a:t>
            </a:r>
            <a:r>
              <a:rPr b="0"/>
              <a:t>Traditional resource scheduling methods lead to poor server utilization and increased energy consumption.</a:t>
            </a:r>
          </a:p>
          <a:p>
            <a:pPr marL="0" indent="0" defTabSz="425194">
              <a:lnSpc>
                <a:spcPct val="200000"/>
              </a:lnSpc>
              <a:spcBef>
                <a:spcPts val="0"/>
              </a:spcBef>
              <a:buSzTx/>
              <a:buNone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Existing cooling systems consume excessive power due to the lack of intelligent temperature management.</a:t>
            </a:r>
            <a:endParaRPr b="1"/>
          </a:p>
          <a:p>
            <a:pPr marL="0" indent="0" defTabSz="425194">
              <a:lnSpc>
                <a:spcPct val="200000"/>
              </a:lnSpc>
              <a:spcBef>
                <a:spcPts val="0"/>
              </a:spcBef>
              <a:buSzTx/>
              <a:buNone/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</a:t>
            </a:r>
            <a:r>
              <a:rPr b="0"/>
              <a:t>Conventional approaches cannot efficiently adapt to dynamic cloud workloads, reducing overall performance</a:t>
            </a:r>
          </a:p>
          <a:p>
            <a:pPr marL="0" indent="0" defTabSz="425194">
              <a:lnSpc>
                <a:spcPct val="200000"/>
              </a:lnSpc>
              <a:spcBef>
                <a:spcPts val="0"/>
              </a:spcBef>
              <a:buSzTx/>
              <a:buNone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• An AI-driven Green Cloud framework is needed to optimize resource allocation, cooling, and energy efficiency.</a:t>
            </a:r>
          </a:p>
        </p:txBody>
      </p:sp>
      <p:pic>
        <p:nvPicPr>
          <p:cNvPr id="10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>
            <a:spLocks noGrp="1"/>
          </p:cNvSpPr>
          <p:nvPr>
            <p:ph type="title"/>
          </p:nvPr>
        </p:nvSpPr>
        <p:spPr>
          <a:xfrm>
            <a:off x="1898005" y="675969"/>
            <a:ext cx="8562114" cy="1325564"/>
          </a:xfrm>
          <a:prstGeom prst="rect">
            <a:avLst/>
          </a:prstGeom>
        </p:spPr>
        <p:txBody>
          <a:bodyPr/>
          <a:lstStyle>
            <a:lvl1pPr algn="ctr">
              <a:defRPr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Objectives</a:t>
            </a:r>
          </a:p>
        </p:txBody>
      </p:sp>
      <p:sp>
        <p:nvSpPr>
          <p:cNvPr id="112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1757787" y="2272378"/>
            <a:ext cx="7669860" cy="2985724"/>
          </a:xfrm>
          <a:prstGeom prst="rect">
            <a:avLst/>
          </a:prstGeom>
        </p:spPr>
        <p:txBody>
          <a:bodyPr/>
          <a:lstStyle/>
          <a:p>
            <a:pPr algn="just" defTabSz="420623">
              <a:lnSpc>
                <a:spcPct val="150000"/>
              </a:lnSpc>
              <a:spcBef>
                <a:spcPts val="700"/>
              </a:spcBef>
              <a:buSzTx/>
              <a:defRPr sz="2024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server workload using machine learning.</a:t>
            </a:r>
          </a:p>
          <a:p>
            <a:pPr algn="just" defTabSz="420623">
              <a:lnSpc>
                <a:spcPct val="150000"/>
              </a:lnSpc>
              <a:spcBef>
                <a:spcPts val="700"/>
              </a:spcBef>
              <a:buSzTx/>
              <a:defRPr sz="2024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workload-aware resource scheduling decisions.</a:t>
            </a:r>
          </a:p>
          <a:p>
            <a:pPr algn="just" defTabSz="420623">
              <a:lnSpc>
                <a:spcPct val="150000"/>
              </a:lnSpc>
              <a:spcBef>
                <a:spcPts val="700"/>
              </a:spcBef>
              <a:buSzTx/>
              <a:defRPr sz="2024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cooling according to server conditions.</a:t>
            </a:r>
          </a:p>
          <a:p>
            <a:pPr algn="just" defTabSz="420623">
              <a:lnSpc>
                <a:spcPct val="150000"/>
              </a:lnSpc>
              <a:spcBef>
                <a:spcPts val="700"/>
              </a:spcBef>
              <a:buSzTx/>
              <a:defRPr sz="2024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power and carbon-emission reduction.</a:t>
            </a:r>
          </a:p>
          <a:p>
            <a:pPr algn="just" defTabSz="420623">
              <a:lnSpc>
                <a:spcPct val="150000"/>
              </a:lnSpc>
              <a:spcBef>
                <a:spcPts val="700"/>
              </a:spcBef>
              <a:buSzTx/>
              <a:defRPr sz="2024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web-based dashboard for monitoring and visualization.</a:t>
            </a:r>
          </a:p>
        </p:txBody>
      </p:sp>
      <p:pic>
        <p:nvPicPr>
          <p:cNvPr id="11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>
            <a:spLocks noGrp="1"/>
          </p:cNvSpPr>
          <p:nvPr>
            <p:ph type="title"/>
          </p:nvPr>
        </p:nvSpPr>
        <p:spPr>
          <a:xfrm>
            <a:off x="1708727" y="365125"/>
            <a:ext cx="8700657" cy="1325563"/>
          </a:xfrm>
          <a:prstGeom prst="rect">
            <a:avLst/>
          </a:prstGeom>
        </p:spPr>
        <p:txBody>
          <a:bodyPr/>
          <a:lstStyle>
            <a:lvl1pPr algn="ctr">
              <a:defRPr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Abstract</a:t>
            </a:r>
          </a:p>
        </p:txBody>
      </p:sp>
      <p:sp>
        <p:nvSpPr>
          <p:cNvPr id="11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01253" y="1825624"/>
            <a:ext cx="10515604" cy="4351340"/>
          </a:xfrm>
          <a:prstGeom prst="rect">
            <a:avLst/>
          </a:prstGeom>
        </p:spPr>
        <p:txBody>
          <a:bodyPr/>
          <a:lstStyle/>
          <a:p>
            <a:pPr marL="0" indent="0" algn="just" defTabSz="457200">
              <a:lnSpc>
                <a:spcPct val="100000"/>
              </a:lnSpc>
              <a:spcBef>
                <a:spcPts val="1400"/>
              </a:spcBef>
              <a:buSzTx/>
              <a:buNone/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algn="just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AI-based framework for efficient resource scheduling and cooling optimization in cloud datacenters.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algn="just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The system monitors server resources and predicts workload demands using machine learning techniques.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algn="just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It intelligently allocates workloads and optimizes cooling to reduce energy consumption and operational costs.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algn="just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The proposed framework improves resource utilization, enhances performance, and supports sustainable cloud computing.</a:t>
            </a:r>
          </a:p>
        </p:txBody>
      </p:sp>
      <p:pic>
        <p:nvPicPr>
          <p:cNvPr id="11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Table 1"/>
          <p:cNvGraphicFramePr/>
          <p:nvPr/>
        </p:nvGraphicFramePr>
        <p:xfrm>
          <a:off x="223347" y="1661491"/>
          <a:ext cx="11745304" cy="4726816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069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5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53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800">
                <a:tc gridSpan="5">
                  <a:txBody>
                    <a:bodyPr/>
                    <a:lstStyle/>
                    <a:p>
                      <a:pPr indent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Helvetica"/>
                        </a:rPr>
                        <a:t>Table 1</a:t>
                      </a:r>
                    </a:p>
                  </a:txBody>
                  <a:tcPr marL="0" marR="0" marT="0" marB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defTabSz="457200">
                        <a:defRPr sz="1600" b="1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Author &amp; Year</a:t>
                      </a:r>
                    </a:p>
                  </a:txBody>
                  <a:tcPr marL="0" marR="0" marT="0" marB="0" horzOverflow="overflow"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Title</a:t>
                      </a:r>
                    </a:p>
                  </a:txBody>
                  <a:tcPr marL="0" marR="0" marT="0" marB="0" horzOverflow="overflow"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ctr">
                        <a:defRPr sz="1800"/>
                      </a:pPr>
                      <a:r>
                        <a:rPr sz="1600" b="1">
                          <a:solidFill>
                            <a:srgbClr val="FFFFFF"/>
                          </a:solidFill>
                          <a:sym typeface="Helvetica"/>
                        </a:rPr>
                        <a:t>Methodology</a:t>
                      </a:r>
                    </a:p>
                  </a:txBody>
                  <a:tcPr marL="0" marR="0" marT="0" marB="0" horzOverflow="overflow"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Findings</a:t>
                      </a:r>
                    </a:p>
                  </a:txBody>
                  <a:tcPr marL="0" marR="0" marT="0" marB="0" horzOverflow="overflow"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Research Gap</a:t>
                      </a:r>
                    </a:p>
                  </a:txBody>
                  <a:tcPr marL="0" marR="0" marT="0" marB="0" horzOverflow="overflow"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1411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Buyya et al. (2010)</a:t>
                      </a:r>
                    </a:p>
                  </a:txBody>
                  <a:tcPr marL="0" marR="0" marT="0" marB="0" horzOverflow="overflow">
                    <a:lnT w="38100">
                      <a:solidFill>
                        <a:srgbClr val="FFFFFF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Energy-Efficient Management of Data Center Resources for Cloud Computing</a:t>
                      </a:r>
                    </a:p>
                  </a:txBody>
                  <a:tcPr marL="0" marR="0" marT="0" marB="0" horzOverflow="overflow">
                    <a:lnT w="38100">
                      <a:solidFill>
                        <a:srgbClr val="FFFFFF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Dynamic VM allocation and resource scheduling</a:t>
                      </a:r>
                    </a:p>
                  </a:txBody>
                  <a:tcPr marL="0" marR="0" marT="0" marB="0" horzOverflow="overflow">
                    <a:lnT w="38100">
                      <a:solidFill>
                        <a:srgbClr val="FFFFFF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Improved server utilization and reduced energy consumption through efficient resource management.</a:t>
                      </a:r>
                    </a:p>
                  </a:txBody>
                  <a:tcPr marL="0" marR="0" marT="0" marB="0" horzOverflow="overflow">
                    <a:lnT w="38100">
                      <a:solidFill>
                        <a:srgbClr val="FFFFFF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Did not consider AI-based cooling optimization and sustainability together.</a:t>
                      </a:r>
                    </a:p>
                  </a:txBody>
                  <a:tcPr marL="0" marR="0" marT="0" marB="0" horzOverflow="overflow">
                    <a:lnT w="38100">
                      <a:solidFill>
                        <a:srgbClr val="FFFFFF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466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HUNTER Framework (2021)</a:t>
                      </a:r>
                    </a:p>
                  </a:txBody>
                  <a:tcPr marL="0" marR="0" marT="0" marB="0" horzOverflow="overflow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AI-Based Holistic Resource Management for Sustainable Cloud Computing</a:t>
                      </a:r>
                    </a:p>
                  </a:txBody>
                  <a:tcPr marL="0" marR="0" marT="0" marB="0" horzOverflow="overflow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AI-driven workload scheduling and resource optimization</a:t>
                      </a:r>
                    </a:p>
                  </a:txBody>
                  <a:tcPr marL="0" marR="0" marT="0" marB="0" horzOverflow="overflow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Achieved better energy efficiency, thermal management, and Quality of Service (QoS).</a:t>
                      </a:r>
                    </a:p>
                  </a:txBody>
                  <a:tcPr marL="0" marR="0" marT="0" marB="0" horzOverflow="overflow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Computational complexity is high, and scalability remains a challenge for large cloud data centers.</a:t>
                      </a:r>
                    </a:p>
                  </a:txBody>
                  <a:tcPr marL="0" marR="0" marT="0" marB="0" horzOverflow="overflow"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986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Lin et al. (2024)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Green-Aware Management Techniques for Sustainable Data Centers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Systematic review of green cloud scheduling and cooling techniques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Highlighted the importance of integrating AI, renewable energy, and intelligent cooling to reduce carbon emissions.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Identified the need for a unified AI framework that jointly optimizes resource scheduling and cooling systems.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" name="Literature review"/>
          <p:cNvSpPr txBox="1"/>
          <p:nvPr/>
        </p:nvSpPr>
        <p:spPr>
          <a:xfrm>
            <a:off x="4042700" y="492444"/>
            <a:ext cx="4106597" cy="715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lnSpc>
                <a:spcPct val="90000"/>
              </a:lnSpc>
              <a:defRPr sz="4400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Literature review </a:t>
            </a:r>
          </a:p>
        </p:txBody>
      </p:sp>
      <p:pic>
        <p:nvPicPr>
          <p:cNvPr id="12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 txBox="1">
            <a:spLocks noGrp="1"/>
          </p:cNvSpPr>
          <p:nvPr>
            <p:ph type="title"/>
          </p:nvPr>
        </p:nvSpPr>
        <p:spPr>
          <a:xfrm>
            <a:off x="1709928" y="365125"/>
            <a:ext cx="8717927" cy="1325563"/>
          </a:xfrm>
          <a:prstGeom prst="rect">
            <a:avLst/>
          </a:prstGeom>
        </p:spPr>
        <p:txBody>
          <a:bodyPr/>
          <a:lstStyle>
            <a:lvl1pPr algn="ctr">
              <a:defRPr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MODULES</a:t>
            </a:r>
          </a:p>
        </p:txBody>
      </p:sp>
      <p:sp>
        <p:nvSpPr>
          <p:cNvPr id="127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186851" y="2666053"/>
            <a:ext cx="7818298" cy="2027293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Clr>
                <a:srgbClr val="FFFFFF"/>
              </a:buClr>
              <a:buFontTx/>
              <a:buAutoNum type="arabicPeriod"/>
              <a:defRPr sz="3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1) Resource Monitoring and Data Collection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Clr>
                <a:srgbClr val="FFFFFF"/>
              </a:buClr>
              <a:buFontTx/>
              <a:buAutoNum type="arabicPeriod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2) </a:t>
            </a:r>
            <a:r>
              <a:rPr b="1"/>
              <a:t>AI-Based Resource Scheduling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Clr>
                <a:srgbClr val="FFFFFF"/>
              </a:buClr>
              <a:buFontTx/>
              <a:buAutoNum type="arabicPeriod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3) </a:t>
            </a:r>
            <a:r>
              <a:rPr b="1"/>
              <a:t>Cooling and Energy Optimisation</a:t>
            </a:r>
          </a:p>
        </p:txBody>
      </p:sp>
      <p:pic>
        <p:nvPicPr>
          <p:cNvPr id="12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 txBox="1">
            <a:spLocks noGrp="1"/>
          </p:cNvSpPr>
          <p:nvPr>
            <p:ph type="title"/>
          </p:nvPr>
        </p:nvSpPr>
        <p:spPr>
          <a:xfrm>
            <a:off x="2572624" y="549328"/>
            <a:ext cx="6825675" cy="1325565"/>
          </a:xfrm>
          <a:prstGeom prst="rect">
            <a:avLst/>
          </a:prstGeom>
        </p:spPr>
        <p:txBody>
          <a:bodyPr/>
          <a:lstStyle>
            <a:lvl1pPr algn="ctr">
              <a:defRPr sz="3000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Resource Monitoring and Data Collection</a:t>
            </a:r>
          </a:p>
        </p:txBody>
      </p:sp>
      <p:sp>
        <p:nvSpPr>
          <p:cNvPr id="13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727661" y="1906214"/>
            <a:ext cx="10515601" cy="4351340"/>
          </a:xfrm>
          <a:prstGeom prst="rect">
            <a:avLst/>
          </a:prstGeom>
        </p:spPr>
        <p:txBody>
          <a:bodyPr/>
          <a:lstStyle/>
          <a:p>
            <a:pPr marL="200526" indent="-200526" defTabSz="457200">
              <a:lnSpc>
                <a:spcPct val="150000"/>
              </a:lnSpc>
              <a:spcBef>
                <a:spcPts val="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Datacenter parameters are collected for each server, including CPU usage, memory usage, network usage, temperature, and power consumption.</a:t>
            </a:r>
          </a:p>
          <a:p>
            <a:pPr marL="200526" indent="-200526" defTabSz="457200">
              <a:lnSpc>
                <a:spcPct val="150000"/>
              </a:lnSpc>
              <a:spcBef>
                <a:spcPts val="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workload information is recorded as Low, Medium, or High to represent the operating condition of the datacenter.</a:t>
            </a:r>
          </a:p>
          <a:p>
            <a:pPr marL="200526" indent="-200526" defTabSz="457200">
              <a:lnSpc>
                <a:spcPct val="150000"/>
              </a:lnSpc>
              <a:spcBef>
                <a:spcPts val="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dataset is preprocessed by encoding categorical values and standardizing numerical features before AI-based analysis.</a:t>
            </a:r>
          </a:p>
          <a:p>
            <a:pPr marL="200526" indent="-200526" defTabSz="457200">
              <a:lnSpc>
                <a:spcPct val="150000"/>
              </a:lnSpc>
              <a:spcBef>
                <a:spcPts val="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information is used as the input for workload prediction, resource scheduling, cooling optimization, and sustainability analysis.</a:t>
            </a:r>
          </a:p>
        </p:txBody>
      </p:sp>
      <p:sp>
        <p:nvSpPr>
          <p:cNvPr id="133" name="Module 1"/>
          <p:cNvSpPr txBox="1"/>
          <p:nvPr/>
        </p:nvSpPr>
        <p:spPr>
          <a:xfrm>
            <a:off x="4833391" y="414866"/>
            <a:ext cx="2525218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marL="429768" indent="-298450" defTabSz="429768">
              <a:buClr>
                <a:srgbClr val="FFFFFF"/>
              </a:buClr>
              <a:buSzPct val="100000"/>
              <a:buFont typeface="Times Roman"/>
              <a:buChar char="•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Module 1</a:t>
            </a:r>
          </a:p>
        </p:txBody>
      </p:sp>
      <p:pic>
        <p:nvPicPr>
          <p:cNvPr id="13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44" y="1034230"/>
            <a:ext cx="9220865" cy="5180973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OUTPUT"/>
          <p:cNvSpPr txBox="1"/>
          <p:nvPr/>
        </p:nvSpPr>
        <p:spPr>
          <a:xfrm>
            <a:off x="4941884" y="124397"/>
            <a:ext cx="2308232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lnSpc>
                <a:spcPct val="90000"/>
              </a:lnSpc>
              <a:defRPr sz="4400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OUTPUT</a:t>
            </a:r>
          </a:p>
        </p:txBody>
      </p:sp>
      <p:pic>
        <p:nvPicPr>
          <p:cNvPr id="139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 txBox="1">
            <a:spLocks noGrp="1"/>
          </p:cNvSpPr>
          <p:nvPr>
            <p:ph type="title"/>
          </p:nvPr>
        </p:nvSpPr>
        <p:spPr>
          <a:xfrm>
            <a:off x="2572623" y="791096"/>
            <a:ext cx="6825676" cy="1325565"/>
          </a:xfrm>
          <a:prstGeom prst="rect">
            <a:avLst/>
          </a:prstGeom>
        </p:spPr>
        <p:txBody>
          <a:bodyPr/>
          <a:lstStyle>
            <a:lvl1pPr algn="ctr" defTabSz="877823">
              <a:defRPr sz="4224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Times Roman"/>
              </a:rPr>
              <a:t>AI-Based Resource Scheduling</a:t>
            </a:r>
            <a:endParaRPr sz="2880" dirty="0">
              <a:latin typeface="Times New Roman" panose="02020603050405020304" pitchFamily="18" charset="0"/>
              <a:cs typeface="Times New Roman" panose="02020603050405020304" pitchFamily="18" charset="0"/>
              <a:sym typeface="Times Roman"/>
            </a:endParaRPr>
          </a:p>
        </p:txBody>
      </p:sp>
      <p:sp>
        <p:nvSpPr>
          <p:cNvPr id="14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727661" y="1906214"/>
            <a:ext cx="10515601" cy="4351340"/>
          </a:xfrm>
          <a:prstGeom prst="rect">
            <a:avLst/>
          </a:prstGeom>
        </p:spPr>
        <p:txBody>
          <a:bodyPr/>
          <a:lstStyle/>
          <a:p>
            <a:pPr marL="0" indent="0" defTabSz="429768">
              <a:lnSpc>
                <a:spcPct val="100000"/>
              </a:lnSpc>
              <a:spcBef>
                <a:spcPts val="1400"/>
              </a:spcBef>
              <a:buSzTx/>
              <a:buNone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• Cloud computing is widely used, but datacenters consume a large amount of energy and require efficient resource management.</a:t>
            </a:r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• AI-based resource scheduling helps improve server utilization and reduces unnecessary power consumption.</a:t>
            </a:r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• </a:t>
            </a:r>
            <a:r>
              <a:rPr b="0" dirty="0"/>
              <a:t>I </a:t>
            </a:r>
            <a:r>
              <a:rPr b="0" dirty="0" err="1"/>
              <a:t>ntelligent</a:t>
            </a:r>
            <a:r>
              <a:rPr b="0" dirty="0"/>
              <a:t> cooling systems minimize energy usage by adjusting cooling based on server workload and temperature.</a:t>
            </a:r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 marL="429768" indent="-298450" defTabSz="429768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Font typeface="Times Roman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• This project develops a Green Cloud AI framework to achieve sustainable, energy-efficient, and high-performance datacenter operations.</a:t>
            </a:r>
          </a:p>
        </p:txBody>
      </p:sp>
      <p:sp>
        <p:nvSpPr>
          <p:cNvPr id="144" name="Module 2"/>
          <p:cNvSpPr txBox="1"/>
          <p:nvPr/>
        </p:nvSpPr>
        <p:spPr>
          <a:xfrm>
            <a:off x="4933986" y="255751"/>
            <a:ext cx="2102951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marL="429768" indent="-298450" defTabSz="429768">
              <a:buClr>
                <a:srgbClr val="FFFFFF"/>
              </a:buClr>
              <a:buSzPct val="100000"/>
              <a:buFont typeface="Times Roman"/>
              <a:buChar char="•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Module 2</a:t>
            </a:r>
          </a:p>
        </p:txBody>
      </p:sp>
      <p:pic>
        <p:nvPicPr>
          <p:cNvPr id="145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024" y="1427537"/>
            <a:ext cx="3255923" cy="38039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400" y="1390812"/>
            <a:ext cx="5508615" cy="4076376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OUTPUT"/>
          <p:cNvSpPr txBox="1"/>
          <p:nvPr/>
        </p:nvSpPr>
        <p:spPr>
          <a:xfrm>
            <a:off x="4941884" y="354292"/>
            <a:ext cx="2308232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lnSpc>
                <a:spcPct val="90000"/>
              </a:lnSpc>
              <a:defRPr sz="4400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OUTPUT</a:t>
            </a:r>
          </a:p>
        </p:txBody>
      </p:sp>
      <p:pic>
        <p:nvPicPr>
          <p:cNvPr id="151" name="Picture 4" descr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Picture 6" descr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 txBox="1">
            <a:spLocks noGrp="1"/>
          </p:cNvSpPr>
          <p:nvPr>
            <p:ph type="title"/>
          </p:nvPr>
        </p:nvSpPr>
        <p:spPr>
          <a:xfrm>
            <a:off x="2572623" y="434201"/>
            <a:ext cx="6825676" cy="1325564"/>
          </a:xfrm>
          <a:prstGeom prst="rect">
            <a:avLst/>
          </a:prstGeom>
        </p:spPr>
        <p:txBody>
          <a:bodyPr/>
          <a:lstStyle>
            <a:lvl1pPr algn="ctr">
              <a:defRPr sz="3800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Cooling and Energy Optimisation</a:t>
            </a:r>
          </a:p>
        </p:txBody>
      </p:sp>
      <p:sp>
        <p:nvSpPr>
          <p:cNvPr id="15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727661" y="2147981"/>
            <a:ext cx="10736679" cy="4351340"/>
          </a:xfrm>
          <a:prstGeom prst="rect">
            <a:avLst/>
          </a:prstGeom>
        </p:spPr>
        <p:txBody>
          <a:bodyPr/>
          <a:lstStyle/>
          <a:p>
            <a:pPr marL="200526" indent="-200526" defTabSz="457200">
              <a:lnSpc>
                <a:spcPct val="150000"/>
              </a:lnSpc>
              <a:spcBef>
                <a:spcPts val="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Cooling requirements are determined from server temperature and predicted workload, allowing different cooling levels to be assigned to different operating conditions.</a:t>
            </a:r>
          </a:p>
          <a:p>
            <a:pPr marL="200526" indent="-200526" defTabSz="457200">
              <a:lnSpc>
                <a:spcPct val="150000"/>
              </a:lnSpc>
              <a:spcBef>
                <a:spcPts val="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framework uses Low, Normal, High, and Maximum cooling levels, with corresponding cooling power requirements of 20 W, 40 W, 60 W, and 80 W.</a:t>
            </a:r>
          </a:p>
          <a:p>
            <a:pPr marL="200526" indent="-200526" defTabSz="457200">
              <a:lnSpc>
                <a:spcPct val="150000"/>
              </a:lnSpc>
              <a:spcBef>
                <a:spcPts val="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optimized configuration reduces average power consumption from 219.90 W in the conventional case to 204.90 W using the Green AI approach.</a:t>
            </a:r>
          </a:p>
          <a:p>
            <a:pPr marL="200526" indent="-200526" defTabSz="457200">
              <a:lnSpc>
                <a:spcPct val="150000"/>
              </a:lnSpc>
              <a:spcBef>
                <a:spcPts val="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resulting energy reduction is 6.82%, while the calculated carbon reduction is 0.0060 kg CO₂/hour.</a:t>
            </a:r>
          </a:p>
        </p:txBody>
      </p:sp>
      <p:sp>
        <p:nvSpPr>
          <p:cNvPr id="156" name="Module 3"/>
          <p:cNvSpPr txBox="1"/>
          <p:nvPr/>
        </p:nvSpPr>
        <p:spPr>
          <a:xfrm>
            <a:off x="4933986" y="267264"/>
            <a:ext cx="2102951" cy="544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marL="429768" indent="-298450" defTabSz="429768">
              <a:buClr>
                <a:srgbClr val="FFFFFF"/>
              </a:buClr>
              <a:buSzPct val="100000"/>
              <a:buFont typeface="Times Roman"/>
              <a:buChar char="•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Module 3</a:t>
            </a:r>
          </a:p>
        </p:txBody>
      </p:sp>
      <p:pic>
        <p:nvPicPr>
          <p:cNvPr id="157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826" y="1180196"/>
            <a:ext cx="9190348" cy="16025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740" y="2846386"/>
            <a:ext cx="8714520" cy="3926982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OUTPUT"/>
          <p:cNvSpPr txBox="1"/>
          <p:nvPr/>
        </p:nvSpPr>
        <p:spPr>
          <a:xfrm>
            <a:off x="4941884" y="296728"/>
            <a:ext cx="2308232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lnSpc>
                <a:spcPct val="90000"/>
              </a:lnSpc>
              <a:defRPr sz="4400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OUTPUT</a:t>
            </a:r>
          </a:p>
        </p:txBody>
      </p:sp>
      <p:pic>
        <p:nvPicPr>
          <p:cNvPr id="163" name="Picture 4" descr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1"/>
          <p:cNvSpPr txBox="1">
            <a:spLocks noGrp="1"/>
          </p:cNvSpPr>
          <p:nvPr>
            <p:ph type="title"/>
          </p:nvPr>
        </p:nvSpPr>
        <p:spPr>
          <a:xfrm>
            <a:off x="1709928" y="365125"/>
            <a:ext cx="8717927" cy="1325563"/>
          </a:xfrm>
          <a:prstGeom prst="rect">
            <a:avLst/>
          </a:prstGeom>
        </p:spPr>
        <p:txBody>
          <a:bodyPr/>
          <a:lstStyle>
            <a:lvl1pPr algn="ctr">
              <a:defRPr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 err="1"/>
              <a:t>C</a:t>
            </a:r>
            <a:r>
              <a:rPr dirty="0" err="1"/>
              <a:t>onculsion</a:t>
            </a:r>
            <a:endParaRPr dirty="0"/>
          </a:p>
        </p:txBody>
      </p:sp>
      <p:sp>
        <p:nvSpPr>
          <p:cNvPr id="16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91810" y="1825624"/>
            <a:ext cx="10984349" cy="4759905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36000"/>
              </a:lnSpc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Existing studies have improved data center performance through energy-efficient resource scheduling and AI-based workload management.</a:t>
            </a:r>
          </a:p>
          <a:p>
            <a:pPr algn="just">
              <a:lnSpc>
                <a:spcPct val="136000"/>
              </a:lnSpc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Intelligent cooling techniques help reduce energy consumption but are often implemented separately from resource scheduling.</a:t>
            </a:r>
            <a:endParaRPr sz="1900" dirty="0"/>
          </a:p>
          <a:p>
            <a:pPr algn="just">
              <a:lnSpc>
                <a:spcPct val="136000"/>
              </a:lnSpc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Intelligent cooling techniques help reduce energy consumption but are often implemented separately from resource scheduling.</a:t>
            </a:r>
            <a:endParaRPr sz="1900" dirty="0"/>
          </a:p>
          <a:p>
            <a:pPr algn="just">
              <a:lnSpc>
                <a:spcPct val="136000"/>
              </a:lnSpc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proposed </a:t>
            </a:r>
            <a:r>
              <a:rPr b="1" dirty="0"/>
              <a:t>Green Cloud-Oriented AI Framework for Sustainable Datacenter Resource Scheduling and Cooling Optimization</a:t>
            </a:r>
            <a:r>
              <a:rPr dirty="0"/>
              <a:t> addresses this gap by enhancing energy efficiency, reducing carbon emissions, and improving overall data center sustainability.</a:t>
            </a:r>
            <a:br>
              <a:rPr dirty="0"/>
            </a:br>
            <a:endParaRPr dirty="0"/>
          </a:p>
        </p:txBody>
      </p:sp>
      <p:pic>
        <p:nvPicPr>
          <p:cNvPr id="16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" y="141606"/>
            <a:ext cx="958444" cy="958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33" y="93181"/>
            <a:ext cx="958444" cy="9584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hank you"/>
          <p:cNvSpPr txBox="1"/>
          <p:nvPr/>
        </p:nvSpPr>
        <p:spPr>
          <a:xfrm>
            <a:off x="4308594" y="2881629"/>
            <a:ext cx="3574809" cy="935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lnSpc>
                <a:spcPct val="90000"/>
              </a:lnSpc>
              <a:defRPr sz="6000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Thank you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840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Helvetica</vt:lpstr>
      <vt:lpstr>Times New Roman</vt:lpstr>
      <vt:lpstr>Times Roman</vt:lpstr>
      <vt:lpstr>Office Theme</vt:lpstr>
      <vt:lpstr>PowerPoint Presentation</vt:lpstr>
      <vt:lpstr>Introduction</vt:lpstr>
      <vt:lpstr>Problem statement</vt:lpstr>
      <vt:lpstr>Objectives</vt:lpstr>
      <vt:lpstr>Abstract</vt:lpstr>
      <vt:lpstr>PowerPoint Presentation</vt:lpstr>
      <vt:lpstr>MODULES</vt:lpstr>
      <vt:lpstr>Resource Monitoring and Data Collection</vt:lpstr>
      <vt:lpstr>PowerPoint Presentation</vt:lpstr>
      <vt:lpstr>AI-Based Resource Scheduling</vt:lpstr>
      <vt:lpstr>PowerPoint Presentation</vt:lpstr>
      <vt:lpstr>Cooling and Energy Optimisation</vt:lpstr>
      <vt:lpstr>PowerPoint Presentation</vt:lpstr>
      <vt:lpstr>Conculsion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Praveen Kumar</cp:lastModifiedBy>
  <cp:revision>4</cp:revision>
  <dcterms:modified xsi:type="dcterms:W3CDTF">2026-09-08T03:55:44Z</dcterms:modified>
</cp:coreProperties>
</file>